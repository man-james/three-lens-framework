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1F5F9"/>
                </a:solidFill>
              </a:defRPr>
            </a:pPr>
            <a:r>
              <a:t>AI Agent Risk Is Not Under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BBF24"/>
                </a:solidFill>
              </a:defRPr>
            </a:pPr>
            <a:r>
              <a:t>The Three-Lens Framework for Enterprise AI Agent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Most organizations assess AI agent risk through one lens: technical safety.</a:t>
            </a:r>
            <a:br/>
            <a:r>
              <a:t>They check for prompt injection, test for bias, monitor for data drift.</a:t>
            </a:r>
            <a:br/>
            <a:r>
              <a:t>That's necessary. It's not sufficient.</a:t>
            </a:r>
            <a:br/>
            <a:br/>
            <a:r>
              <a:t>The Three-Lens Framework adds two lenses most organizations are missing:</a:t>
            </a:r>
            <a:br/>
            <a:r>
              <a:t>🔧 Operational (36 risks)  ·  🏛 Organizational (32 risks)  ·  🌐 Systemic (19 risks)</a:t>
            </a:r>
            <a:br/>
            <a:br/>
            <a:r>
              <a:t>15 Critical  ·  37 High  ·  31 Moderate  ·  4 Emerging</a:t>
            </a:r>
            <a:br/>
            <a:r>
              <a:t>Based on 1,366 real-world incident reports from the MIT AI Risk Repository.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5394960"/>
          <a:ext cx="103327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2377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Incident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AIRI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What Happened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Agent-Enabled Fraud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Customer service agents socially engineered to defraud customers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AI Misinformation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Hallucinated facts presented authoritatively at scale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Algorithmic Discrimination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Systemically worse outcomes across multiple domains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Malicious Disinformation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AI-generated political manipulation at electoral scale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64922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t>Source: Man (2022) MIT Thesis · MIT AIRI · OWASP · NIST AI RMF · EU AI Act · 27+ publications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1F5F9"/>
                </a:solidFill>
              </a:defRPr>
            </a:pPr>
            <a:r>
              <a:t>One Lens Isn't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Most organizations only check Lens 1. The biggest risks live in Lenses 2 and 3.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918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</a:defRPr>
            </a:pPr>
            <a:r>
              <a:t>🔧 LENS 1</a:t>
            </a:r>
            <a:br/>
            <a:r>
              <a:t>Operational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</a:defRPr>
            </a:pPr>
            <a:r>
              <a:t>36 risks</a:t>
            </a:r>
            <a:br/>
            <a:br/>
            <a:r>
              <a:t>🤖 Agent Infrastructure (15)</a:t>
            </a:r>
            <a:br/>
            <a:r>
              <a:t>🧠 AI Model, Safety &amp; Data (14)</a:t>
            </a:r>
            <a:br/>
            <a:r>
              <a:t>🔄 Process &amp; Workflow (4)</a:t>
            </a:r>
            <a:br/>
            <a:r>
              <a:t>📊 Project &amp; Investment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577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Day-to-day execution.</a:t>
            </a:r>
            <a:br/>
            <a:r>
              <a:t>Firm controls directly.</a:t>
            </a:r>
            <a:br/>
            <a:r>
              <a:t>Engineering &amp; security risks.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918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65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🏛 LENS 2</a:t>
            </a:r>
            <a:br/>
            <a:r>
              <a:t>Organizational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346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</a:defRPr>
            </a:pPr>
            <a:r>
              <a:t>32 risks</a:t>
            </a:r>
            <a:br/>
            <a:br/>
            <a:r>
              <a:t>👥 Workforce &amp; Human Impact (11)</a:t>
            </a:r>
            <a:br/>
            <a:r>
              <a:t>🏛 Governance &amp; Compliance (7)</a:t>
            </a:r>
            <a:br/>
            <a:r>
              <a:t>🔗 Third-Party &amp; Supply Chain (7)</a:t>
            </a:r>
            <a:br/>
            <a:r>
              <a:t>📈 Enterprise Strategy (7)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5577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People, process, governance.</a:t>
            </a:r>
            <a:br/>
            <a:r>
              <a:t>Firm controls directly.</a:t>
            </a:r>
            <a:br/>
            <a:r>
              <a:t>HR, legal &amp; compliance risks.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2918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84FC"/>
                </a:solidFill>
              </a:defRPr>
            </a:pPr>
            <a:r>
              <a:t>🌐 LENS 3</a:t>
            </a:r>
            <a:br/>
            <a:r>
              <a:t>Systemic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8346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</a:defRPr>
            </a:pPr>
            <a:r>
              <a:t>19 risks</a:t>
            </a:r>
            <a:br/>
            <a:br/>
            <a:r>
              <a:t>🌐 Ecosystem &amp; Societal Harm (8)</a:t>
            </a:r>
            <a:br/>
            <a:r>
              <a:t>📡 Information Environment (4)</a:t>
            </a:r>
            <a:br/>
            <a:r>
              <a:t>⚡ Capability &amp; Power (7)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577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Above-firm, societal-scale.</a:t>
            </a:r>
            <a:br/>
            <a:r>
              <a:t>Firm influences but cannot</a:t>
            </a:r>
            <a:br/>
            <a:r>
              <a:t>unilaterally mitigate.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4922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</a:defRPr>
            </a:pPr>
            <a:r>
              <a:t>87 risks · 11 categories · 3 axes · 44 mitigations · 5 groups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1F5F9"/>
                </a:solidFill>
              </a:defRPr>
            </a:pPr>
            <a:r>
              <a:t>15 Critical Risks — Backed by Real-World Incident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Start here. Address these before moving to High or Moderate tier.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086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</a:defRPr>
                      </a:pPr>
                      <a:r>
                        <a:t>Incidents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</a:defRPr>
                      </a:pPr>
                      <a:r>
                        <a:t>What's at Stake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Agent-Enabled Customer Fraud (OP-AI14)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Customer trust, financial 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🔴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Agent-Enabled Public Fraud (SY-CP3)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Societal harm, regulatory backlash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🔴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AI Misinformation — Operational (OP-MD7)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Customer harm, contractual 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🔴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Misinformation at Societal Scale (SY-IE1)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Information ecosystem degradation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🔴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Malicious Disinformation (SY-IE2)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Democratic manipulation, public 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🔴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Model Bias &amp; Discrimination (OP-MD2)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Legal liability, regulatory fines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🔴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Structural Discrimination (SY-CP6)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Structural harm, civil litigation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🔴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Dual-Use Proliferation (SY-CP2)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Weapons-capable tech diffusion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🔴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Dual-Use Emergence (OP-AI15)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Unintended capability 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🔴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Excessive Agency (OP-AI1)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Unauthorized tool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🔴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Prompt Injection (OP-AI2)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Workflow hijacking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🔴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Confabulated Actions (OP-AI3)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Fabricated obligations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🔴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Tool Supply Chain (OP-AI8)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26.1% vulnerabilities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🔴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Regulatory Breach (OR-GV1)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Fines up to 7% global turnover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🔴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r>
                        <a:t>Adversarial Attacks (OP-MD5)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hijacking, jailbreak propagation, model theft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1F5F9"/>
                </a:solidFill>
              </a:defRPr>
            </a:pPr>
            <a:r>
              <a:t>What It Costs to Do Nothing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0292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</a:defRPr>
            </a:pPr>
            <a:r>
              <a:t>Regulatory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EU AI Act fines up to €35M or 7% of global turnover.</a:t>
            </a:r>
            <a:br/>
            <a:r>
              <a:t>Untracked agent drift makes compliance unprovable.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Financial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Human-scale error windows become catastrophic</a:t>
            </a:r>
            <a:br/>
            <a:r>
              <a:t>cascades at agent speed. No undo button.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50292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84FC"/>
                </a:solidFill>
              </a:defRPr>
            </a:pPr>
            <a:r>
              <a:t>Reputational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When your agent defrauds your own customers,</a:t>
            </a:r>
            <a:br/>
            <a:r>
              <a:t>the headline isn't 'sophisticated attack' —</a:t>
            </a:r>
            <a:br/>
            <a:r>
              <a:t>it's 'Company X's AI stole from its users.'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0292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Operational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7548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Low-governance organizations experience 96.4%</a:t>
            </a:r>
            <a:br/>
            <a:r>
              <a:t>more risk incidents. If you don't know how many</a:t>
            </a:r>
            <a:br/>
            <a:r>
              <a:t>agents you have, the question isn't whether something</a:t>
            </a:r>
            <a:br/>
            <a:r>
              <a:t>will go wrong — it's whether you'll know when it does.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1F5F9"/>
                </a:solidFill>
              </a:defRPr>
            </a:pPr>
            <a:r>
              <a:t>The First Five: Deploy This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Sequence: PL4 → PL8 → OG3 → PL5 → HI1. Achievable in 8-10 weeks by one governance lead + red-team support.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1005840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691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</a:defRPr>
            </a:pPr>
            <a:r>
              <a:t>1. PL4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Agent Use-Case Inventory &amp; Risk Tiering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List every agent: purpose, autonomy level, tools, data. Classify by consequence severity. Define do-not-automate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560320"/>
            <a:ext cx="1005840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6060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</a:defRPr>
            </a:pPr>
            <a:r>
              <a:t>2. PL8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06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AI Literacy &amp; Agent Supervisory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97180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Train everyone who touches agents: spot hallucinations, calibrate trust, exercise overrides. Required by EU AI Act Art. 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474720"/>
            <a:ext cx="1005840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5204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3. OG3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5204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Agentic AI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88620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Who is accountable? What happens during an incident? Cross-org agent interaction policies. Lifecycle management.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389120"/>
            <a:ext cx="1005840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434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</a:defRPr>
            </a:pPr>
            <a:r>
              <a:t>4. PL5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Red-Teaming &amp; Adversarial 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80060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Test before every deployment: prompt injection, jailbreak, tool abuse, multi-turn manipulation. Document results.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303520"/>
            <a:ext cx="1005840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349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84FC"/>
                </a:solidFill>
              </a:defRPr>
            </a:pPr>
            <a:r>
              <a:t>5. HI1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349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Human-in-the-Loop for Agentic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71500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Human approval gates on high-consequence actions. Bounded autonomy windows. Clear escalation paths.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355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</a:defRPr>
            </a:pPr>
            <a:r>
              <a:t>Full framework: framework-v3-risks-mitigations.md  ·  Assessment template: framework-v3-assessment-template.xlsx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